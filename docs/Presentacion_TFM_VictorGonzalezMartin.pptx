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4610"/>
  </p:normalViewPr>
  <p:slideViewPr>
    <p:cSldViewPr snapToGrid="0" snapToObjects="1">
      <p:cViewPr>
        <p:scale>
          <a:sx n="101" d="100"/>
          <a:sy n="101" d="100"/>
        </p:scale>
        <p:origin x="29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lang="es-ES" sz="1200" b="0" i="0" u="none" strike="noStrike">
                <a:solidFill>
                  <a:srgbClr val="1F2937"/>
                </a:solidFill>
                <a:latin typeface="Arial"/>
              </a:rPr>
              <a:t>Error de predicción: 8 veces más preciso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medio (céntimos por litro)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BAB-4CED-83E1-DE05E509EF46}"/>
              </c:ext>
            </c:extLst>
          </c:dPt>
          <c:dPt>
            <c:idx val="1"/>
            <c:invertIfNegative val="0"/>
            <c:bubble3D val="0"/>
            <c:spPr>
              <a:solidFill>
                <a:srgbClr val="DC3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BAB-4CED-83E1-DE05E509EF4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Experto en tendencias (Prophet)</c:v>
                </c:pt>
                <c:pt idx="1">
                  <c:v>RepostaPro (LightGBM)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16.3</c:v>
                </c:pt>
                <c:pt idx="1">
                  <c:v>2.09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AB-4CED-83E1-DE05E509EF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rial"/>
              </a:defRPr>
            </a:pPr>
            <a:endParaRPr lang="es-E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s-E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lang="es-ES" sz="1200" b="0" i="0" u="none" strike="noStrike">
                <a:solidFill>
                  <a:srgbClr val="1F2937"/>
                </a:solidFill>
                <a:latin typeface="Arial"/>
              </a:rPr>
              <a:t>Ahorro anual por flota (€)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Ahorro anual (€)</c:v>
                </c:pt>
              </c:strCache>
            </c:strRef>
          </c:tx>
          <c:spPr>
            <a:solidFill>
              <a:srgbClr val="DC35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Mensajería urbana</c:v>
                </c:pt>
                <c:pt idx="1">
                  <c:v>Distribución regional</c:v>
                </c:pt>
                <c:pt idx="2">
                  <c:v>Largo recorrido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30107</c:v>
                </c:pt>
                <c:pt idx="1">
                  <c:v>193973</c:v>
                </c:pt>
                <c:pt idx="2">
                  <c:v>76276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54-4042-9D03-A54CDB1FD5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rial"/>
              </a:defRPr>
            </a:pPr>
            <a:endParaRPr lang="es-E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s-E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64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TFM RepostaPro. Un sistema que predice los precios de los carburantes en España y recomienda a las flotas comerciales dónde y cuándo repostar para ahorrar dinero.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mercado español de carburantes es de precios libres desde 1998. La dispersión de precios es enorme: 70 céntimos por litro entre extremos y 15-20 céntimos dentro de un mismo barrio. Esa dispersión es la oportunidad que explota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de negocio: el combustible es el segundo coste tras el personal. La motivación del proyecto viene además de mi perfil profesional como controller financiero en el sector de la distribución de carburantes.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fuente única del proyecto es la API oficial del Ministerio. Es un dato de calidad excepcional: oficial, gratuito, completo y con histórico reconstruible. Su explotación sistemática por parte del sector logístico es casi inexistente.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RepostaPro es un sistema de extremo a extremo: no es solo un modelo de predicción, sino un flujo completo que va del dato bruto a la decisión operativa del gestor de flota.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seis objetivos específicos del TFM, expresados sin tecnicismos. Todos ellos se han cumplido, como veremos en las conclusiones.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Volumen del dataset: 895 días consecutivos, 11.475 estaciones, unos diez millones de observaciones, 11 GB. Es un dataset real, voluminoso y de fuente oficial: la base de credibilidad de todo el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 gran hallazgo del análisis: el mercado está partido en dos segmentos. Marcas tradicionales por encima de la media, low-cost e hipermercados por debajo. El diferencial extremo entre marcas llega a 30 céntimos por litro.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hallazgo: el factor geográfico es real y cuantificable, y no siempre responde a los tópicos. Canarias es más barata que la península gracias a su fiscalidad; Cataluña es barata por competencia, no por impuestos.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Durante el desarrollo ocurrió un shock real de mercado. En lugar de ignorarlo, el proyecto lo detectó en los datos y adaptó la estrategia: dos modelos separados, uno para cada régimen de mercado. Es una de las aportaciones más valoradas del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Comparamos tres paradigmas: un baseline de media móvil, Prophet y LightGBM. LightGBM gana por su capacidad de usar la marca, la provincia y el historial de cada estación. Prophet quedó descartado porque solo predice el promedio nacional.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elegido alcanza un error medio de 2,09 céntimos por litro en gasóleo y 0,67 en gasolina prediciendo cada estación individual. Frente a Prophet es 8 veces más preciso. Y el error es marginal frente a las diferencias de 10-20 céntimos que existen entre gasolineras vecinas.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capa de optimización combina la predicción con las restricciones reales de la flota: distancia, desvío y autonomía. La salida es una recomendación concreta: dónde y cuándo repostar.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se puso a prueba con tres perfiles de flota representativos del sector, con parámetros basados en el Observatorio de Costes del Ministerio de Transportes: urbana, regional y de largo recorrido.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central del TFM: 300.356 euros anuales de ahorro para las tres flotas, un 14,9% del gasto en combustible. Metodología basada en el Observatorio de Costes del Ministerio de Transportes, con datos de precios reales de junio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arbitraje geográfico (elegir estación) aporta más ahorro que el temporal (elegir día), porque la dispersión entre estaciones supera la volatilidad diaria. Que el sistema recomiende sistemáticamente las low-cost de cada zona valida cualitativamente el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el trabajo analítico se materializa en un dashboard de cuatro pestañas construido con Streamlit. El gestor no ve modelos ni código: ve mapas, precios y recomendaciones. Se hará una demostración en directo si el tribunal lo desea.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cinco conclusiones del trabajo. Los seis objetivos planteados se han cumplido íntegramente. Las líneas futuras incluyen ampliar el horizonte de predicción, integrar el precio del petróleo y evolucionar hacia un producto comercial en la nube.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41648" y="1109259"/>
            <a:ext cx="1060704" cy="1060704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886" y="1408805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39112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Reposta</a:t>
            </a:r>
            <a:r>
              <a:rPr lang="en-US" sz="54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1234440" y="2852609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del repostaje en flotas comerciales mediante predicción de precios de carburantes y análisis de impacto económico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566160" y="3627642"/>
            <a:ext cx="2011680" cy="0"/>
          </a:xfrm>
          <a:prstGeom prst="line">
            <a:avLst/>
          </a:prstGeom>
          <a:noFill/>
          <a:ln w="19050">
            <a:solidFill>
              <a:srgbClr val="DC35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703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Víctor González Martín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Juan Manuel Moreno Lamparero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Máster en Data Science y Business Analytics · IMF Smart Education / UCAV</a:t>
            </a:r>
            <a:endParaRPr lang="en-US" sz="1300" dirty="0"/>
          </a:p>
        </p:txBody>
      </p:sp>
      <p:pic>
        <p:nvPicPr>
          <p:cNvPr id="1026" name="Picture 2" descr="IMF Smart Education: información y oferta académica">
            <a:extLst>
              <a:ext uri="{FF2B5EF4-FFF2-40B4-BE49-F238E27FC236}">
                <a16:creationId xmlns:a16="http://schemas.microsoft.com/office/drawing/2014/main" id="{E13F69A5-529D-45F6-A37F-83F6001EC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687"/>
            <a:ext cx="2320684" cy="130184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hape 3">
            <a:extLst>
              <a:ext uri="{FF2B5EF4-FFF2-40B4-BE49-F238E27FC236}">
                <a16:creationId xmlns:a16="http://schemas.microsoft.com/office/drawing/2014/main" id="{CB4D0276-2384-46EB-BE28-29B0E3468A89}"/>
              </a:ext>
            </a:extLst>
          </p:cNvPr>
          <p:cNvSpPr/>
          <p:nvPr/>
        </p:nvSpPr>
        <p:spPr>
          <a:xfrm>
            <a:off x="4455336" y="67482"/>
            <a:ext cx="4663440" cy="566928"/>
          </a:xfrm>
          <a:prstGeom prst="roundRect">
            <a:avLst>
              <a:gd name="adj" fmla="val 14516"/>
            </a:avLst>
          </a:prstGeom>
          <a:solidFill>
            <a:srgbClr val="111827"/>
          </a:solidFill>
          <a:ln/>
        </p:spPr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FD5DB9AC-8CC9-495B-9736-49AECD9AF4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3936" y="204642"/>
            <a:ext cx="292608" cy="292608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281CF0BC-0B02-4293-99AC-2286C6C31758}"/>
              </a:ext>
            </a:extLst>
          </p:cNvPr>
          <p:cNvSpPr/>
          <p:nvPr/>
        </p:nvSpPr>
        <p:spPr>
          <a:xfrm>
            <a:off x="5049696" y="6748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github.com/Victor-Gonzalez-Martin/tfm-carburantes-flotas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mismo litro no cuesta lo mismo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España, cada gasolinera fija su precio libremente. </a:t>
            </a:r>
            <a:r>
              <a:rPr lang="en-US" sz="15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 precio oficial del gasóleo ni de la gasolina.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resultado: dentro de una misma zona, dos gasolineras vecinas pueden cobrar precios muy distintos por el mismo producto. Para un particular es una molestia; para una empresa con decenas de vehículos, es mucho dinero.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0" y="1417320"/>
            <a:ext cx="3611880" cy="1481328"/>
          </a:xfrm>
          <a:prstGeom prst="roundRect">
            <a:avLst>
              <a:gd name="adj" fmla="val 5556"/>
            </a:avLst>
          </a:prstGeom>
          <a:solidFill>
            <a:srgbClr val="FDF3F4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57800" y="156362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3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0,70 €/L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257800" y="22585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diferencia entre la gasolinera más barata y la más cara de España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0" y="3154680"/>
            <a:ext cx="3611880" cy="1481328"/>
          </a:xfrm>
          <a:prstGeom prst="roundRect">
            <a:avLst>
              <a:gd name="adj" fmla="val 5556"/>
            </a:avLst>
          </a:prstGeom>
          <a:solidFill>
            <a:srgbClr val="FDF3F4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57800" y="330098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3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15-20 cts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257800" y="39959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diferencia habitual entre estaciones de una misma zona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IMPACTO EN LA EMPRESA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8017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una flota, el combustible es dinero grande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8640" cy="548640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17428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00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mayor coste de una empresa de transporte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221284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carburante supone entre el 25% y el 35% del coste por kilómetro, según el Observatorio de Costes del Ministerio de Transportes.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3291840"/>
            <a:ext cx="548640" cy="548640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" y="343448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291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céntimo cuenta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390448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flota mediana consume más de 100.000 litros al mes. Ahorrar unos pocos céntimos por litro son decenas de miles de euros al año.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166360" y="1600200"/>
            <a:ext cx="3474720" cy="3063240"/>
          </a:xfrm>
          <a:prstGeom prst="roundRect">
            <a:avLst>
              <a:gd name="adj" fmla="val 2687"/>
            </a:avLst>
          </a:prstGeom>
          <a:solidFill>
            <a:srgbClr val="1F2937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44068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sin embargo…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40680" y="22402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las flotas siguen repostando por cercanía, por costumbre o por contrato, sin usar los datos de precios que existen.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44068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Ahí nace este proyecto.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dato público que casi nadie aprovecha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1143000"/>
          </a:xfrm>
          <a:prstGeom prst="roundRect">
            <a:avLst>
              <a:gd name="adj" fmla="val 7200"/>
            </a:avLst>
          </a:prstGeom>
          <a:solidFill>
            <a:srgbClr val="FDF3F4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64792"/>
            <a:ext cx="548640" cy="548640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90743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72768"/>
            <a:ext cx="6903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Ministerio para la Transición Ecológica publica cada día el precio de todas las gasolineras de España</a:t>
            </a: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unas 11.500 estaciones, con obligación legal de declarar sus precios.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880360"/>
            <a:ext cx="2587752" cy="1783080"/>
          </a:xfrm>
          <a:prstGeom prst="roundRect">
            <a:avLst>
              <a:gd name="adj" fmla="val 4615"/>
            </a:avLst>
          </a:prstGeom>
          <a:solidFill>
            <a:srgbClr val="F5F6F8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22783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07592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31520" y="3675888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libre, sin registro y sin límites de uso relevantes.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73552" y="2880360"/>
            <a:ext cx="2587752" cy="1783080"/>
          </a:xfrm>
          <a:prstGeom prst="roundRect">
            <a:avLst>
              <a:gd name="adj" fmla="val 4615"/>
            </a:avLst>
          </a:prstGeom>
          <a:solidFill>
            <a:srgbClr val="F5F6F8"/>
          </a:solidFill>
          <a:ln/>
        </p:spPr>
      </p:sp>
      <p:sp>
        <p:nvSpPr>
          <p:cNvPr id="14" name="Shape 10"/>
          <p:cNvSpPr/>
          <p:nvPr/>
        </p:nvSpPr>
        <p:spPr>
          <a:xfrm>
            <a:off x="3502152" y="3108960"/>
            <a:ext cx="457200" cy="457200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024" y="322783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078224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502152" y="3675888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todo el territorio nacional, todos los días.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044184" y="2880360"/>
            <a:ext cx="2587752" cy="1783080"/>
          </a:xfrm>
          <a:prstGeom prst="roundRect">
            <a:avLst>
              <a:gd name="adj" fmla="val 4615"/>
            </a:avLst>
          </a:prstGeom>
          <a:solidFill>
            <a:srgbClr val="F5F6F8"/>
          </a:solidFill>
          <a:ln/>
        </p:spPr>
      </p:sp>
      <p:sp>
        <p:nvSpPr>
          <p:cNvPr id="19" name="Shape 14"/>
          <p:cNvSpPr/>
          <p:nvPr/>
        </p:nvSpPr>
        <p:spPr>
          <a:xfrm>
            <a:off x="6272784" y="3108960"/>
            <a:ext cx="457200" cy="457200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322783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48856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72784" y="3675888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reconstruir años de precios, día a día.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RepostaPro?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que </a:t>
            </a:r>
            <a:r>
              <a:rPr lang="en-US" sz="165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de los precios del pasado</a:t>
            </a:r>
            <a:r>
              <a:rPr lang="en-US" sz="1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5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los de mañana</a:t>
            </a:r>
            <a:r>
              <a:rPr lang="en-US" sz="1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65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recomienda dónde y cuándo repostar</a:t>
            </a:r>
            <a:r>
              <a:rPr lang="en-US" sz="1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cada flota.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1444752" cy="2240280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9264" y="2450592"/>
            <a:ext cx="512064" cy="512064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401" y="2583729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7784" y="307238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Recoger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3419856"/>
            <a:ext cx="1261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diaria de los precios oficiales del Ministerio.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929384" y="3063240"/>
            <a:ext cx="265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176272" y="2240280"/>
            <a:ext cx="1444752" cy="2240280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42616" y="2450592"/>
            <a:ext cx="512064" cy="512064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753" y="2583729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31136" y="307238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Ordenar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267712" y="3419856"/>
            <a:ext cx="1261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organización de millones de registros.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602736" y="3063240"/>
            <a:ext cx="265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3849624" y="2240280"/>
            <a:ext cx="1444752" cy="2240280"/>
          </a:xfrm>
          <a:prstGeom prst="roundRect">
            <a:avLst>
              <a:gd name="adj" fmla="val 5696"/>
            </a:avLst>
          </a:prstGeom>
          <a:solidFill>
            <a:srgbClr val="FDF3F4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315968" y="2450592"/>
            <a:ext cx="512064" cy="512064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9105" y="2583729"/>
            <a:ext cx="245791" cy="24579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04488" y="307238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Predecir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941064" y="3419856"/>
            <a:ext cx="1261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aprende y anticipa el precio de mañana.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276088" y="3063240"/>
            <a:ext cx="265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522976" y="2240280"/>
            <a:ext cx="1444752" cy="2240280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989320" y="2450592"/>
            <a:ext cx="512064" cy="512064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2457" y="2583729"/>
            <a:ext cx="245791" cy="24579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307238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Recomendar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614416" y="3419856"/>
            <a:ext cx="1261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 mejor estación y el mejor momento.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6949440" y="3063240"/>
            <a:ext cx="265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7196328" y="2240280"/>
            <a:ext cx="1444752" cy="2240280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662672" y="2450592"/>
            <a:ext cx="512064" cy="512064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5809" y="2583729"/>
            <a:ext cx="245791" cy="245791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51192" y="307238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Mostrar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7287768" y="3419856"/>
            <a:ext cx="1261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herramienta visual para el gestor de flota.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metas, un propósito: ahorrar con datos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77640" cy="9144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773936"/>
            <a:ext cx="475488" cy="475488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39" y="1897563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45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Reunir el histórico completo de precios de España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554480"/>
            <a:ext cx="3977640" cy="9144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/>
        </p:spPr>
      </p:sp>
      <p:sp>
        <p:nvSpPr>
          <p:cNvPr id="9" name="Shape 6"/>
          <p:cNvSpPr/>
          <p:nvPr/>
        </p:nvSpPr>
        <p:spPr>
          <a:xfrm>
            <a:off x="4828032" y="1773936"/>
            <a:ext cx="475488" cy="475488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659" y="1897563"/>
            <a:ext cx="228234" cy="2282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645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qué hace que un precio sea alto o bajo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2633472"/>
            <a:ext cx="3977640" cy="9144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/>
        </p:spPr>
      </p:sp>
      <p:sp>
        <p:nvSpPr>
          <p:cNvPr id="13" name="Shape 9"/>
          <p:cNvSpPr/>
          <p:nvPr/>
        </p:nvSpPr>
        <p:spPr>
          <a:xfrm>
            <a:off x="667512" y="2852928"/>
            <a:ext cx="475488" cy="475488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139" y="2976555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72491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y comparar modelos que predicen el precio de mañana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663440" y="2633472"/>
            <a:ext cx="3977640" cy="9144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/>
        </p:spPr>
      </p:sp>
      <p:sp>
        <p:nvSpPr>
          <p:cNvPr id="17" name="Shape 12"/>
          <p:cNvSpPr/>
          <p:nvPr/>
        </p:nvSpPr>
        <p:spPr>
          <a:xfrm>
            <a:off x="4828032" y="2852928"/>
            <a:ext cx="475488" cy="475488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1659" y="2976555"/>
            <a:ext cx="228234" cy="2282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40680" y="272491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lógica que recomienda dónde y cuándo repostar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02920" y="3712464"/>
            <a:ext cx="3977640" cy="9144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/>
        </p:spPr>
      </p:sp>
      <p:sp>
        <p:nvSpPr>
          <p:cNvPr id="21" name="Shape 15"/>
          <p:cNvSpPr/>
          <p:nvPr/>
        </p:nvSpPr>
        <p:spPr>
          <a:xfrm>
            <a:off x="667512" y="3931920"/>
            <a:ext cx="475488" cy="475488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139" y="4055547"/>
            <a:ext cx="228234" cy="22823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380390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el ahorro en euros sobre flotas realistas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4663440" y="3712464"/>
            <a:ext cx="3977640" cy="9144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/>
        </p:spPr>
      </p:sp>
      <p:sp>
        <p:nvSpPr>
          <p:cNvPr id="25" name="Shape 18"/>
          <p:cNvSpPr/>
          <p:nvPr/>
        </p:nvSpPr>
        <p:spPr>
          <a:xfrm>
            <a:off x="4828032" y="3931920"/>
            <a:ext cx="475488" cy="475488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1659" y="4055547"/>
            <a:ext cx="228234" cy="22823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40680" y="380390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una herramienta que cualquier gestor pueda usar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MATERIA PRIMA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 del proyecto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895 días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2377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precios diarios: del 1 de enero de 2024 al 14 de junio de 2026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92040" y="16002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11.475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892040" y="2377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gasolineras activas en toda España, con su marca y ubicación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 millones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85800" y="3931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precios individuales registrados y analizados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92040" y="31546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GB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892040" y="3931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información organizada y lista para ser explotada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Ministerio para la Transición Ecológica y el Reto Demográfico (dato oficial declarado por cada estación).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REVELAN LOS DATOS ·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marca marca el precio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español funciona en dos ligas de precios claramente separadas: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977640" cy="2148840"/>
          </a:xfrm>
          <a:prstGeom prst="roundRect">
            <a:avLst>
              <a:gd name="adj" fmla="val 3830"/>
            </a:avLst>
          </a:prstGeom>
          <a:solidFill>
            <a:srgbClr val="F5F6F8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tradicional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Repsol · Moeve (Cepsa) · BP · Galp · Shell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~1,67 €/L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medio del gasóleo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977640" cy="2148840"/>
          </a:xfrm>
          <a:prstGeom prst="roundRect">
            <a:avLst>
              <a:gd name="adj" fmla="val 3830"/>
            </a:avLst>
          </a:prstGeom>
          <a:solidFill>
            <a:srgbClr val="FDF3F4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de bajo coste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Plenergy · Petroprix · Ballenoil · Alcampo · BonÀrea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C3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~1,51 €/L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93776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medio del gasóleo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425196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céntimos por litro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separan la marca más cara de la más barata. Y el patrón se repite igual en gasóleo y en gasolina: la marca es la pista más fiable del precio.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REVELAN LOS DATOS ·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lugar también importa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8640" cy="548640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16971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813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céntimos por litro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separan la provincia más cara (Baleares) de la más barata (Las Palmas).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2423160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5F6F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51460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Canarias, la más barata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46120" y="251460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 la insularidad, sino por sus impuestos propios más bajos que en la península.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319272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5F6F8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41071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Cataluña, sorpresa a la baja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46120" y="3410712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fuerte presencia de gasolineras low-cost empuja los precios de toda la región hacia abajo.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4215384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5F6F8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30682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Baleares, la más cara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246120" y="430682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Insularidad sin compensación fiscal: paga los precios más altos del país.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IMPREVISTO REAL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Marzo de 2026: el mercado se rompe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1371600"/>
          </a:xfrm>
          <a:prstGeom prst="roundRect">
            <a:avLst>
              <a:gd name="adj" fmla="val 6000"/>
            </a:avLst>
          </a:prstGeom>
          <a:solidFill>
            <a:srgbClr val="FDF3F4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603504" cy="603504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51" y="198571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00200"/>
            <a:ext cx="6812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marzo de 2026. </a:t>
            </a: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Estalla el conflicto entre Israel, Irán y EE. UU. y se cierra el Estrecho de Ormuz. El gasóleo sube un </a:t>
            </a:r>
            <a:r>
              <a:rPr lang="en-US" sz="145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+33% en pocas semanas</a:t>
            </a: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el Gobierno responde bajando impuestos por decreto.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02920" y="3063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gestionó el proyecto?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3520440"/>
            <a:ext cx="3977640" cy="1234440"/>
          </a:xfrm>
          <a:prstGeom prst="roundRect">
            <a:avLst>
              <a:gd name="adj" fmla="val 6667"/>
            </a:avLst>
          </a:prstGeom>
          <a:solidFill>
            <a:srgbClr val="F5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63931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“antes”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entrenado con los 26 meses previos al conflicto: el mercado estable.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63440" y="3520440"/>
            <a:ext cx="3977640" cy="1234440"/>
          </a:xfrm>
          <a:prstGeom prst="roundRect">
            <a:avLst>
              <a:gd name="adj" fmla="val 6667"/>
            </a:avLst>
          </a:prstGeom>
          <a:solidFill>
            <a:srgbClr val="F5F6F8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363931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“después”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sistema entrenado solo con los meses del conflicto: el mercado volátil.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CORAZÓN DEL SISTEMA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formas de predecir, puestas a competir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5F6F8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6192" y="1783080"/>
            <a:ext cx="548640" cy="548640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838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5059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simple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04088" y="3017520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“Mañana costará lo mismo que la media de la última semana.” Es el listón mínimo que cualquier modelo debe superar.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55448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5F6F8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5112" y="1783080"/>
            <a:ext cx="548640" cy="548640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758" y="19257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45059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experto en tendencias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93008" y="3017520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(Prophet) Estudia la evolución general del país: tendencias y estaciones del año. Pero no distingue una gasolinera de otra.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80760" y="155448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DF3F4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14032" y="1783080"/>
            <a:ext cx="548640" cy="548640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678" y="19257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45059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experto completo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81928" y="3017520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(LightGBM) Aprende de la marca, la provincia y el historial de cada estación. Predice el precio de cada gasolinera individual.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4480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Ganador: el experto completo. 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único capaz de responder a la pregunta que de verdad importa a una flota: ¿cuánto costará mañana en ESTA gasolinera?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FUNCIONA?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se equivoca en ~2 céntimos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DC3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±2,09 cts/L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medio al predecir el precio de mañana de cada gasolinera (gasóleo). En gasolina, aún menos: ±0,67 cts/L.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3566160"/>
            <a:ext cx="3749040" cy="1143000"/>
          </a:xfrm>
          <a:prstGeom prst="roundRect">
            <a:avLst>
              <a:gd name="adj" fmla="val 7200"/>
            </a:avLst>
          </a:prstGeom>
          <a:solidFill>
            <a:srgbClr val="F5F6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6576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ponerlo en contexto: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diferencias reales entre gasolineras de una misma zona son de 10 a 20 céntimos. El error del sistema es marginal frente a la decisión que ayuda a tomar.</a:t>
            </a:r>
            <a:endParaRPr lang="en-US" sz="11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0" y="1600200"/>
          <a:ext cx="40690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PREDECIR A DECIDIR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no da un número: da una recomendación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5F6F8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6192" y="1737360"/>
            <a:ext cx="512064" cy="512064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329" y="1870497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408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previsto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" y="2706624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mañana y pasado mañana, para cada estación cercana.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5544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5F6F8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5112" y="1737360"/>
            <a:ext cx="512064" cy="512064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8249" y="1870497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3408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y desvío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93008" y="2706624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cuesta desviarse hasta cada gasolinera candidata.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0760" y="15544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5F6F8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14032" y="1737360"/>
            <a:ext cx="512064" cy="512064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169" y="187049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3408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real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81928" y="2706624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combustible queda: solo estaciones alcanzables.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3611880"/>
            <a:ext cx="8138160" cy="1097280"/>
          </a:xfrm>
          <a:prstGeom prst="roundRect">
            <a:avLst>
              <a:gd name="adj" fmla="val 7500"/>
            </a:avLst>
          </a:prstGeom>
          <a:solidFill>
            <a:srgbClr val="1F2937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904488"/>
            <a:ext cx="512064" cy="512064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377" y="4037625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749040"/>
            <a:ext cx="6903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“Reposta hoy en la estación X”  o  “espera a mañana, va a bajar”.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instrucción concreta y accionable para el gestor, no un informe técnico.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DE FUEGO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flotas realistas del sector logístico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5F6F8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6192" y="1755648"/>
            <a:ext cx="548640" cy="548640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838" y="189829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" y="239572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urbana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277977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furgonetas · base en Vallecas (Madrid) · reparto de última milla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85800" y="35661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Reposta cerca de la base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55448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5F6F8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5112" y="1755648"/>
            <a:ext cx="548640" cy="548640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758" y="189829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1568" y="239572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regional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474720" y="277977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camiones · base en Coslada (Madrid) · rutas interurbanas diarias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474720" y="35661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gasolineras a su alcance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80760" y="155448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5F6F8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14032" y="1755648"/>
            <a:ext cx="548640" cy="548640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678" y="1898294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90488" y="239572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recorrido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263640" y="277977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tráileres · rutas Madrid-Sevilla, Madrid-Barcelona y Madrid-Bilbao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263640" y="35661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Reposta en ruta por autovía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02920" y="42062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conjunto: </a:t>
            </a: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vehículos · 108.500 litros al mes · 168.175 € de gasto mensual en combustible.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300.356 € de ahorro al año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C3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300.356 €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ahorro anual proyectado para las tres flotas, </a:t>
            </a: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14,9% de su gasto en combustible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sin comprar vehículos nuevos ni cambiar la operativa.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749040"/>
            <a:ext cx="3794760" cy="960120"/>
          </a:xfrm>
          <a:prstGeom prst="roundRect">
            <a:avLst>
              <a:gd name="adj" fmla="val 8571"/>
            </a:avLst>
          </a:prstGeom>
          <a:solidFill>
            <a:srgbClr val="FDF3F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8404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flota regional es la estrella: </a:t>
            </a: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 un 21% gracias a su gran radio de acción y a las 230 estaciones disponibles.</a:t>
            </a:r>
            <a:endParaRPr lang="en-US" sz="11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0" y="1554480"/>
          <a:ext cx="406908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DEL AHORRO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“dónde” pesa más que el “cuándo”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77640" cy="2103120"/>
          </a:xfrm>
          <a:prstGeom prst="roundRect">
            <a:avLst>
              <a:gd name="adj" fmla="val 3913"/>
            </a:avLst>
          </a:prstGeom>
          <a:solidFill>
            <a:srgbClr val="FDF3F4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12064" cy="512064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377" y="1916217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105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bien la gasolinera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39572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 parte del ahorro viene de elegir la estación correcta dentro de la zona: las diferencias entre vecinas superan los 10-20 céntimos.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3977640" cy="2103120"/>
          </a:xfrm>
          <a:prstGeom prst="roundRect">
            <a:avLst>
              <a:gd name="adj" fmla="val 3913"/>
            </a:avLst>
          </a:prstGeom>
          <a:solidFill>
            <a:srgbClr val="F5F6F8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783080"/>
            <a:ext cx="512064" cy="512064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897" y="1916217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8105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bien el día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937760" y="239572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al día adecuado también ayuda, pero aporta menos: los precios de una misma estación varían poco de un día a otro.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02920" y="393192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validación de sentido común: 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gasolineras que el sistema recomienda son casi siempre las low-cost y las de hipermercado de cada zona — el sistema “descubre” por sí solo lo que el sector ya intuía, pero ahora con cifras.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FINAL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panel visual para el gestor de flota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5F6F8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938528"/>
            <a:ext cx="512064" cy="512064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25" y="2071665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0078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Repostaje inmediato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71600" y="206654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reposto hoy? Mapa con las mejores estaciones cerca de la base.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5F6F8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64608" y="1938528"/>
            <a:ext cx="512064" cy="512064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745" y="207166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70078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en ruta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532120" y="206654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paro a repostar en un Madrid-Sevilla? El punto óptimo del trayecto.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017520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5F6F8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" y="3401568"/>
            <a:ext cx="512064" cy="512064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225" y="3534705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16382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flota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71600" y="35295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tu flota y calcula cuánto podrías ahorrar al año.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5F6F8"/>
          </a:solidFill>
          <a:ln/>
          <a:effectLst>
            <a:outerShdw blurRad="88900" dist="25400" dir="2700000" algn="bl" rotWithShape="0">
              <a:srgbClr val="9CA3AF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64608" y="3401568"/>
            <a:ext cx="512064" cy="512064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745" y="3534705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16382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532120" y="35295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el sistema por dentro, para quien quiera auditarlo.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clic, el panel se actualiza con los precios oficiales del día. Sin necesidad de conocimientos técnicos.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ideas para llevarse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402336" cy="402336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81328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datos públicos y gratuitos se puede construir un sistema de ahorro real y medible.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12848"/>
            <a:ext cx="402336" cy="402336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157984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del carburante depende sobre todo de la marca y del lugar — y ambos son predecibles.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889504"/>
            <a:ext cx="402336" cy="402336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anticipa el precio de mañana de cada gasolinera con un error medio de ~2 céntimos.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402336" cy="402336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511296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a una flota realista de 53 vehículos: ~300.000 € de ahorro al año (15% del gasto).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242816"/>
            <a:ext cx="402336" cy="402336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242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187952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culmina en una herramienta que cualquier gestor puede usar, sin saber de datos.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2361</Words>
  <Application>Microsoft Office PowerPoint</Application>
  <PresentationFormat>Presentación en pantalla (16:9)</PresentationFormat>
  <Paragraphs>206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RepostaPro — Defensa TFM</dc:title>
  <dc:subject>PptxGenJS Presentation</dc:subject>
  <dc:creator>Víctor González Martín</dc:creator>
  <cp:lastModifiedBy>Victor Gonzalez</cp:lastModifiedBy>
  <cp:revision>2</cp:revision>
  <dcterms:created xsi:type="dcterms:W3CDTF">2026-07-06T21:50:31Z</dcterms:created>
  <dcterms:modified xsi:type="dcterms:W3CDTF">2026-07-06T23:46:34Z</dcterms:modified>
</cp:coreProperties>
</file>